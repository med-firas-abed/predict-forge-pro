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86600" y="0"/>
            <a:ext cx="5102352" cy="6858000"/>
          </a:xfrm>
          <a:prstGeom prst="rect">
            <a:avLst/>
          </a:prstGeom>
          <a:solidFill>
            <a:srgbClr val="060B19"/>
          </a:solidFill>
          <a:ln>
            <a:solidFill>
              <a:srgbClr val="060B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hoto_machine_aroteq.png"/>
          <p:cNvPicPr>
            <a:picLocks noChangeAspect="1"/>
          </p:cNvPicPr>
          <p:nvPr/>
        </p:nvPicPr>
        <p:blipFill>
          <a:blip r:embed="rId2"/>
          <a:srcRect l="31330" r="31330"/>
          <a:stretch>
            <a:fillRect/>
          </a:stretch>
        </p:blipFill>
        <p:spPr>
          <a:xfrm>
            <a:off x="7086600" y="0"/>
            <a:ext cx="51023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58368" y="658368"/>
            <a:ext cx="109728" cy="4480560"/>
          </a:xfrm>
          <a:prstGeom prst="rect">
            <a:avLst/>
          </a:prstGeom>
          <a:solidFill>
            <a:srgbClr val="F3722C"/>
          </a:solidFill>
          <a:ln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786384"/>
            <a:ext cx="53949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 Display"/>
              </a:rPr>
              <a:t>PrediTeq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627632"/>
            <a:ext cx="5394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E2E8F0"/>
                </a:solidFill>
                <a:latin typeface="Aptos Display"/>
              </a:rPr>
              <a:t>Maintenance predictive intelligente pour un stockeur vertical rotatif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61488"/>
            <a:ext cx="539496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Aptos"/>
              </a:rPr>
              <a:t>Projet PFE: Machine Learning + IoT + application web
Du signal machine a la decision de maintenance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858768"/>
            <a:ext cx="1170432" cy="310896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877056"/>
            <a:ext cx="11704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Simulation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12848" y="3858768"/>
            <a:ext cx="1170432" cy="310896"/>
          </a:xfrm>
          <a:prstGeom prst="roundRect">
            <a:avLst/>
          </a:prstGeom>
          <a:solidFill>
            <a:srgbClr val="F3722C"/>
          </a:solidFill>
          <a:ln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12848" y="3877056"/>
            <a:ext cx="11704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5576" y="3858768"/>
            <a:ext cx="1170432" cy="310896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5576" y="3877056"/>
            <a:ext cx="11704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Runtime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18304" y="3858768"/>
            <a:ext cx="1170432" cy="310896"/>
          </a:xfrm>
          <a:prstGeom prst="roundRect">
            <a:avLst/>
          </a:prstGeom>
          <a:solidFill>
            <a:srgbClr val="EAB308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4" y="3877056"/>
            <a:ext cx="11704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1E293B"/>
                </a:solidFill>
                <a:latin typeface="Aptos"/>
              </a:rPr>
              <a:t>Web app</a:t>
            </a:r>
          </a:p>
        </p:txBody>
      </p:sp>
      <p:pic>
        <p:nvPicPr>
          <p:cNvPr id="16" name="Picture 15" descr="isam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880" y="5029200"/>
            <a:ext cx="852640" cy="658368"/>
          </a:xfrm>
          <a:prstGeom prst="rect">
            <a:avLst/>
          </a:prstGeom>
        </p:spPr>
      </p:pic>
      <p:pic>
        <p:nvPicPr>
          <p:cNvPr id="17" name="Picture 16" descr="aroteq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728" y="5156088"/>
            <a:ext cx="1664208" cy="40459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0120" y="5797296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ptos"/>
              </a:rPr>
              <a:t>Soutenance jury | Version generee depuis les artefacts verifies du depot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Aptos"/>
              </a:rPr>
              <a:t>PrediTeq | Soutenance jury | simulation -&gt; ML -&gt; runtime -&gt; web 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19088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Aptos"/>
              </a:rPr>
              <a:t>1/20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658368"/>
          </a:xfrm>
          <a:prstGeom prst="rect">
            <a:avLst/>
          </a:prstGeom>
          <a:solidFill>
            <a:srgbClr val="F3722C"/>
          </a:solidFill>
          <a:ln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10896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Aptos Display"/>
              </a:rPr>
              <a:t>Le probleme industriel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Pourquoi PrediTeq existe et a quoi il sert</a:t>
            </a:r>
          </a:p>
        </p:txBody>
      </p:sp>
      <p:pic>
        <p:nvPicPr>
          <p:cNvPr id="5" name="Picture 4" descr="photo_machine_aroteq.png"/>
          <p:cNvPicPr>
            <a:picLocks noChangeAspect="1"/>
          </p:cNvPicPr>
          <p:nvPr/>
        </p:nvPicPr>
        <p:blipFill>
          <a:blip r:embed="rId2"/>
          <a:srcRect l="29515" r="29515"/>
          <a:stretch>
            <a:fillRect/>
          </a:stretch>
        </p:blipFill>
        <p:spPr>
          <a:xfrm>
            <a:off x="685800" y="1325880"/>
            <a:ext cx="365760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17720" y="1325880"/>
            <a:ext cx="28803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Intervenir trop tard peut mener a une panne ou a un arret.</a:t>
            </a: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Intervenir trop tot cree un cout de maintenance inutile.</a:t>
            </a:r>
          </a:p>
          <a:p>
            <a:pPr>
              <a:spcAft>
                <a:spcPts val="500"/>
              </a:spcAft>
              <a:defRPr sz="1800">
                <a:solidFill>
                  <a:srgbClr val="1E293B"/>
                </a:solidFill>
                <a:latin typeface="Aptos"/>
              </a:defRPr>
            </a:pPr>
            <a:r>
              <a:t>Il faut donc surveiller l'etat de sante et anticiper le moment critique.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389888"/>
            <a:ext cx="3749039" cy="113385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26679" y="1389888"/>
            <a:ext cx="91440" cy="1133856"/>
          </a:xfrm>
          <a:prstGeom prst="rect">
            <a:avLst/>
          </a:prstGeom>
          <a:solidFill>
            <a:srgbClr val="F3722C"/>
          </a:solidFill>
          <a:ln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91271" y="1499616"/>
            <a:ext cx="3511295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Deux sorties 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91271" y="1773936"/>
            <a:ext cx="3511295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Health Index = note de sante entre 0 et 1. RUL = temps restant avant la zone critique.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3456432"/>
            <a:ext cx="3273552" cy="113385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17720" y="3456432"/>
            <a:ext cx="91440" cy="1133856"/>
          </a:xfrm>
          <a:prstGeom prst="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82312" y="3566160"/>
            <a:ext cx="3035808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Cas cible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3840480"/>
            <a:ext cx="3035808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Stockeur vertical rotatif industriel AROTEQ utilise dans un contexte de production.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456432"/>
            <a:ext cx="3429000" cy="113385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3456432"/>
            <a:ext cx="91440" cy="113385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3566160"/>
            <a:ext cx="319125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Valeur metier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3840480"/>
            <a:ext cx="3191256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Aider a prioriser la maintenance, planifier et reduire les interventions mal synchronisees.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7720" y="4709160"/>
            <a:ext cx="68580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chema_positionnement_stage_arote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1357" y="4709160"/>
            <a:ext cx="1990725" cy="10058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8640" y="6446520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PrediTeq | Soutenance jury | simulation -&gt; ML -&gt; runtime -&gt; web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19088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658368"/>
          </a:xfrm>
          <a:prstGeom prst="rect">
            <a:avLst/>
          </a:prstGeom>
          <a:solidFill>
            <a:srgbClr val="F3722C"/>
          </a:solidFill>
          <a:ln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10896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Aptos Display"/>
              </a:rPr>
              <a:t>Notre demarche methodologique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Donnees limitees au depart, progression par phases, collecte reelle en parallele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1335024"/>
            <a:ext cx="3401568" cy="113385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" y="1335024"/>
            <a:ext cx="91440" cy="1133856"/>
          </a:xfrm>
          <a:prstGeom prst="rect">
            <a:avLst/>
          </a:prstGeom>
          <a:solidFill>
            <a:srgbClr val="F3722C"/>
          </a:solidFill>
          <a:ln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1444752"/>
            <a:ext cx="316382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1. Partir du reel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1719072"/>
            <a:ext cx="3163824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Le projet part d'une vraie machine, mais sans longues historiques de pannes annotees au debut. Il fallait donc avancer sans attendre des annees.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35024"/>
            <a:ext cx="3401568" cy="113385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35024"/>
            <a:ext cx="91440" cy="1133856"/>
          </a:xfrm>
          <a:prstGeom prst="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444752"/>
            <a:ext cx="316382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2. Simuler de facon realiste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719072"/>
            <a:ext cx="3163824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Nous avons construit un socle d'entrainement a partir du moteur, du cycle, des charges, du bruit capteur et d'un contexte plausible.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3568" y="1335024"/>
            <a:ext cx="3401568" cy="113385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73568" y="1335024"/>
            <a:ext cx="91440" cy="113385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444752"/>
            <a:ext cx="316382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3. Avancer par phases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719072"/>
            <a:ext cx="3163824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Nous n'avons pas tout modele d'un coup : signaux, indicateurs, anomalies, note de sante, puis seulement temps restant.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" y="3310128"/>
            <a:ext cx="4983480" cy="113385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" y="3310128"/>
            <a:ext cx="91440" cy="1133856"/>
          </a:xfrm>
          <a:prstGeom prst="rect">
            <a:avLst/>
          </a:prstGeom>
          <a:solidFill>
            <a:srgbClr val="F3722C"/>
          </a:solidFill>
          <a:ln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3419856"/>
            <a:ext cx="474573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4. Valider chaque bloc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3694176"/>
            <a:ext cx="4745736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La chaine est verifiee sur un test separe, sur des trajectoires completes, sur NASA CMAPSS et par calibration. NASA sert ici de repere externe, pas de donnees principales du stockeur.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3310128"/>
            <a:ext cx="5047488" cy="113385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27648" y="3310128"/>
            <a:ext cx="91440" cy="1133856"/>
          </a:xfrm>
          <a:prstGeom prst="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419856"/>
            <a:ext cx="4809744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5. Collecter le reel en parallele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694176"/>
            <a:ext cx="4809744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Le flux LabVIEW / PLC vers le backend, l'historisation cloud et le journal maintenance preparent deja la phase suivante : raffiner et annoter avec du vrai terrain.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" y="5349240"/>
            <a:ext cx="10570464" cy="566928"/>
          </a:xfrm>
          <a:prstGeom prst="roundRect">
            <a:avLst/>
          </a:prstGeom>
          <a:solidFill>
            <a:srgbClr val="1C2541"/>
          </a:solidFill>
          <a:ln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" y="5468112"/>
            <a:ext cx="101955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ptos"/>
              </a:rPr>
              <a:t>Le choix des variables vient aussi du terrain : plaque moteur, cycle reel et logique charge -&gt; puissance -&gt; courant -&gt; echauffement discutee avec le technicien.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PrediTeq | Soutenance jury | simulation -&gt; ML -&gt; runtime -&gt; web 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19088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658368"/>
          </a:xfrm>
          <a:prstGeom prst="rect">
            <a:avLst/>
          </a:prstGeom>
          <a:solidFill>
            <a:srgbClr val="F3722C"/>
          </a:solidFill>
          <a:ln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10896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Aptos Display"/>
              </a:rPr>
              <a:t>Les donnees d'entrainement simulees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Ce que contient vraiment le jeu cree a l'etape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335024"/>
            <a:ext cx="37947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Une trajectoire = l'histoire complete d'une machine simulee dans le temps.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Chaque trajectoire combine un profil de degradation et un cas de charge.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Le script exporte ensuite les signaux utiles pour tout le pipeline ML.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3246120"/>
            <a:ext cx="141732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3355848"/>
            <a:ext cx="10881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3722C"/>
                </a:solidFill>
                <a:latin typeface="Aptos Display"/>
              </a:rPr>
              <a:t>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3758184"/>
            <a:ext cx="1088136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trajectoires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3246120"/>
            <a:ext cx="141732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2032" y="3355848"/>
            <a:ext cx="10881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A9D8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3758184"/>
            <a:ext cx="1088136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profils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50208" y="3246120"/>
            <a:ext cx="141732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3355848"/>
            <a:ext cx="108813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B82F6"/>
                </a:solidFill>
                <a:latin typeface="Aptos Display"/>
              </a:rPr>
              <a:t>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758184"/>
            <a:ext cx="1088136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cas de charge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" y="4526280"/>
            <a:ext cx="4526280" cy="113385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" y="4526280"/>
            <a:ext cx="91440" cy="1133856"/>
          </a:xfrm>
          <a:prstGeom prst="rect">
            <a:avLst/>
          </a:prstGeom>
          <a:solidFill>
            <a:srgbClr val="F3722C"/>
          </a:solidFill>
          <a:ln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636008"/>
            <a:ext cx="428853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Colonnes 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4910328"/>
            <a:ext cx="4288536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trajectory_id, profile, load_kg, t_seconds, rms_mms, power_kw, current_a, temp_c, humidity_rh, phase, plus des metadonnees internes de simulation.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541264"/>
            <a:ext cx="4480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onsolas"/>
              </a:rPr>
              <a:t>Sortie du script: prediteq_ml/data/raw/trajectories.csv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96128" y="1316736"/>
            <a:ext cx="56692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roof_code_07_training_data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4064" y="1316736"/>
            <a:ext cx="2833408" cy="45262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614416" y="5870448"/>
            <a:ext cx="53035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onsolas"/>
              </a:rPr>
              <a:t>prediteq_ml/steps/step1_simulate.py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PrediTeq | Soutenance jury | simulation -&gt; ML -&gt; runtime -&gt; web 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19088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658368"/>
          </a:xfrm>
          <a:prstGeom prst="rect">
            <a:avLst/>
          </a:prstGeom>
          <a:solidFill>
            <a:srgbClr val="F3722C"/>
          </a:solidFill>
          <a:ln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10896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Aptos Display"/>
              </a:rPr>
              <a:t>Pourquoi ces variables et comment elles donnent ces resultats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Le choix des variables suit une chaine de cause a effet lisible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1417320"/>
            <a:ext cx="2240280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" y="1417320"/>
            <a:ext cx="82296" cy="1078992"/>
          </a:xfrm>
          <a:prstGeom prst="rect">
            <a:avLst/>
          </a:prstGeom>
          <a:solidFill>
            <a:srgbClr val="F3722C"/>
          </a:solidFill>
          <a:ln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27048"/>
            <a:ext cx="203911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Aptos"/>
              </a:rPr>
              <a:t>Charge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1801368"/>
            <a:ext cx="2039112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plus la charge est lourde, plus la montee demande d'effort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81051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475569"/>
                </a:solidFill>
                <a:latin typeface="Aptos Display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417320"/>
            <a:ext cx="2240280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64992" y="1417320"/>
            <a:ext cx="82296" cy="1078992"/>
          </a:xfrm>
          <a:prstGeom prst="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1296" y="1527048"/>
            <a:ext cx="203911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Aptos"/>
              </a:rPr>
              <a:t>Effort electrique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296" y="1801368"/>
            <a:ext cx="2039112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la puissance monte, donc le courant monte aussi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181051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475569"/>
                </a:solidFill>
                <a:latin typeface="Aptos Display"/>
              </a:rP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25312" y="1417320"/>
            <a:ext cx="2240280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25312" y="1417320"/>
            <a:ext cx="82296" cy="1078992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71616" y="1527048"/>
            <a:ext cx="203911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Aptos"/>
              </a:rPr>
              <a:t>Vieillissement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71616" y="1801368"/>
            <a:ext cx="2039112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l'echauffement et l'usure font baisser le Health Index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810512"/>
            <a:ext cx="228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475569"/>
                </a:solidFill>
                <a:latin typeface="Aptos Display"/>
              </a:rP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85632" y="1417320"/>
            <a:ext cx="2852928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85632" y="1417320"/>
            <a:ext cx="82296" cy="1078992"/>
          </a:xfrm>
          <a:prstGeom prst="rect">
            <a:avLst/>
          </a:prstGeom>
          <a:solidFill>
            <a:srgbClr val="F3722C"/>
          </a:solidFill>
          <a:ln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31936" y="1527048"/>
            <a:ext cx="2651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Aptos"/>
              </a:rPr>
              <a:t>Signaux visibles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1936" y="1801368"/>
            <a:ext cx="265176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vibration, puissance, courant, temperature et humidite evoluent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" y="2926080"/>
            <a:ext cx="3886200" cy="113385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" y="2926080"/>
            <a:ext cx="91440" cy="1133856"/>
          </a:xfrm>
          <a:prstGeom prst="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" y="3035808"/>
            <a:ext cx="364845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Pourquoi ces variables 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" y="3310128"/>
            <a:ext cx="3648456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Nous avons garde des variables soit mesurables en live, soit directement derivees du comportement machine. Ainsi, l'entrainement offline et le runtime utilisent le meme langage physique.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" y="4297680"/>
            <a:ext cx="3886200" cy="113385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" y="4297680"/>
            <a:ext cx="91440" cy="1133856"/>
          </a:xfrm>
          <a:prstGeom prst="rect">
            <a:avLst/>
          </a:prstGeom>
          <a:solidFill>
            <a:srgbClr val="F3722C"/>
          </a:solidFill>
          <a:ln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" y="4407408"/>
            <a:ext cx="364845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Message non technique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" y="4681728"/>
            <a:ext cx="3648456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Nous n'avons pas choisi des colonnes arbitraires. Nous avons choisi les mesures qui changent quand la machine travaille plus fort ou se degrade.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83480" y="2816352"/>
            <a:ext cx="301752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proof_code_01_sim_const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889209"/>
            <a:ext cx="3017520" cy="2688925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8183879" y="2816352"/>
            <a:ext cx="301752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proof_code_02_sim_power_cur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2960945"/>
            <a:ext cx="3017520" cy="254545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010912" y="5705856"/>
            <a:ext cx="29260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onsolas"/>
              </a:rPr>
              <a:t>prediteq_ml/config.py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1312" y="5705856"/>
            <a:ext cx="29260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onsolas"/>
              </a:rPr>
              <a:t>prediteq_ml/steps/step1_simulate.py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46520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PrediTeq | Soutenance jury | simulation -&gt; ML -&gt; runtime -&gt; web app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19088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658368"/>
          </a:xfrm>
          <a:prstGeom prst="rect">
            <a:avLst/>
          </a:prstGeom>
          <a:solidFill>
            <a:srgbClr val="F3722C"/>
          </a:solidFill>
          <a:ln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10896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Aptos Display"/>
              </a:rPr>
              <a:t>La logique des 3 machines simulees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Meme base projet, mais 3 contextes d'usage pour montrer 3 etats de sante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1325880"/>
            <a:ext cx="3977639" cy="113385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" y="1325880"/>
            <a:ext cx="91440" cy="1133856"/>
          </a:xfrm>
          <a:prstGeom prst="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1435608"/>
            <a:ext cx="3739895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ASC-A1 - machine protegee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1709928"/>
            <a:ext cx="3739895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Bizerte | profil A_linear | charge 0-85 kg | cible HI 0.96. Usage leger, environnement plus sec, peu de surcharge.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2670048"/>
            <a:ext cx="3977639" cy="113385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" y="2670048"/>
            <a:ext cx="91440" cy="1133856"/>
          </a:xfrm>
          <a:prstGeom prst="rect">
            <a:avLst/>
          </a:prstGeom>
          <a:solidFill>
            <a:srgbClr val="F3722C"/>
          </a:solidFill>
          <a:ln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2779776"/>
            <a:ext cx="3739895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ASC-B2 - machine sous surveillance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3054096"/>
            <a:ext cx="3739895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Sfax | profil C_stepwise | charge 70-190 kg | cible HI 0.62. Trafic mixte, demi-charges frequentes, stress moyen.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4014215"/>
            <a:ext cx="3977639" cy="113385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" y="4014215"/>
            <a:ext cx="91440" cy="1133856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4123943"/>
            <a:ext cx="3739895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ASC-C3 - machine critique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4398263"/>
            <a:ext cx="3739895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Sousse | profil D_noisy_linear | charge 180-285 kg | cible HI 0.10. Ligne intensive, charges lourdes, usure et stress eleves.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431536"/>
            <a:ext cx="38862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Message simple: ce ne sont pas 3 graines aleatoires. Le simulateur change vraiment les charges, le stress, l'usure et le point de depart.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1325880"/>
            <a:ext cx="61722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proof_code_08_demo_machine_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9678" y="1325880"/>
            <a:ext cx="822683" cy="2011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5074920" y="3611880"/>
            <a:ext cx="61722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roof_code_09_demo_machine_runtime_log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3581" y="3611880"/>
            <a:ext cx="954877" cy="20116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102352" y="3401568"/>
            <a:ext cx="43891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onsolas"/>
              </a:rPr>
              <a:t>prediteq_api/demo_scenarios.py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02352" y="5705856"/>
            <a:ext cx="50292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onsolas"/>
              </a:rPr>
              <a:t>prediteq_api/routers/simulator.py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PrediTeq | Soutenance jury | simulation -&gt; ML -&gt; runtime -&gt; web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19088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658368"/>
          </a:xfrm>
          <a:prstGeom prst="rect">
            <a:avLst/>
          </a:prstGeom>
          <a:solidFill>
            <a:srgbClr val="F3722C"/>
          </a:solidFill>
          <a:ln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10896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Pipeline ML en langage simple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tos"/>
              </a:rPr>
              <a:t>Chaque bloc a un role clair, puis le backend charge les artefacts exportes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" y="2011680"/>
            <a:ext cx="960120" cy="822960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" y="2121408"/>
            <a:ext cx="868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
Simuler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9928" y="2249424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 Display"/>
              </a:rP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9384" y="2011680"/>
            <a:ext cx="960120" cy="8229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75104" y="2121408"/>
            <a:ext cx="868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
Preparer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4368" y="2249424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 Display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63824" y="2011680"/>
            <a:ext cx="960120" cy="822960"/>
          </a:xfrm>
          <a:prstGeom prst="roundRect">
            <a:avLst/>
          </a:prstGeom>
          <a:solidFill>
            <a:srgbClr val="F3722C"/>
          </a:solidFill>
          <a:ln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9544" y="2121408"/>
            <a:ext cx="868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
Detecter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78808" y="2249424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 Display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8264" y="2011680"/>
            <a:ext cx="960120" cy="822960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3984" y="2121408"/>
            <a:ext cx="868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
Noter la
sante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13248" y="2249424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 Display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32704" y="2011680"/>
            <a:ext cx="960120" cy="8229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78424" y="2121408"/>
            <a:ext cx="868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
Estimer le
temps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7688" y="2249424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 Display"/>
              </a:rP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67144" y="2011680"/>
            <a:ext cx="960120" cy="822960"/>
          </a:xfrm>
          <a:prstGeom prst="roundRect">
            <a:avLst/>
          </a:prstGeom>
          <a:solidFill>
            <a:srgbClr val="F3722C"/>
          </a:solidFill>
          <a:ln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12864" y="2121408"/>
            <a:ext cx="868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
Mesurer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82127" y="2249424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 Display"/>
              </a:rPr>
              <a:t>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01583" y="2011680"/>
            <a:ext cx="960120" cy="822960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47303" y="2121408"/>
            <a:ext cx="868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6B
Tester
NASA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7" y="2249424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 Display"/>
              </a:rP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36024" y="2011680"/>
            <a:ext cx="960120" cy="82296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81744" y="2121408"/>
            <a:ext cx="868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6C
Calibrer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51007" y="2249424"/>
            <a:ext cx="201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 Display"/>
              </a:rPr>
              <a:t>&gt;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70463" y="2011680"/>
            <a:ext cx="960120" cy="822960"/>
          </a:xfrm>
          <a:prstGeom prst="roundRect">
            <a:avLst/>
          </a:prstGeom>
          <a:solidFill>
            <a:srgbClr val="F3722C"/>
          </a:solidFill>
          <a:ln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16183" y="2121408"/>
            <a:ext cx="868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7
Exporter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" y="3703320"/>
            <a:ext cx="10588752" cy="1417320"/>
          </a:xfrm>
          <a:prstGeom prst="roundRect">
            <a:avLst/>
          </a:prstGeom>
          <a:solidFill>
            <a:srgbClr val="1C2541"/>
          </a:solidFill>
          <a:ln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3913632"/>
            <a:ext cx="10149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 Display"/>
              </a:rPr>
              <a:t>Lecture simple pour le jury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43159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E2E8F0"/>
                </a:solidFill>
                <a:latin typeface="Aptos"/>
              </a:defRPr>
            </a:pPr>
            <a:r>
              <a:t>Nous avons avance par blocs: simulation -&gt; indicateurs -&gt; anomalies -&gt; HI -&gt; RUL.</a:t>
            </a:r>
          </a:p>
          <a:p>
            <a:pPr>
              <a:spcAft>
                <a:spcPts val="500"/>
              </a:spcAft>
              <a:defRPr sz="1600">
                <a:solidFill>
                  <a:srgbClr val="E2E8F0"/>
                </a:solidFill>
                <a:latin typeface="Aptos"/>
              </a:defRPr>
            </a:pPr>
            <a:r>
              <a:t>Chaque bloc a ete valide avant le suivant, puis exporte vers le runtime.</a:t>
            </a:r>
          </a:p>
          <a:p>
            <a:pPr>
              <a:spcAft>
                <a:spcPts val="500"/>
              </a:spcAft>
              <a:defRPr sz="1600">
                <a:solidFill>
                  <a:srgbClr val="E2E8F0"/>
                </a:solidFill>
                <a:latin typeface="Aptos"/>
              </a:defRPr>
            </a:pPr>
            <a:r>
              <a:t>Le backend charge ces exports; il ne reentraine pas en live.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577840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Consolas"/>
              </a:rPr>
              <a:t>Ordre a citer: step1 -&gt; step2 -&gt; step3 -&gt; step4 -&gt; step5 -&gt; step6 -&gt; step6b -&gt; step6c -&gt; step7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46520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Aptos"/>
              </a:rPr>
              <a:t>PrediTeq | Soutenance jury | simulation -&gt; ML -&gt; runtime -&gt; web app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19088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Aptos"/>
              </a:rPr>
              <a:t>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658368"/>
          </a:xfrm>
          <a:prstGeom prst="rect">
            <a:avLst/>
          </a:prstGeom>
          <a:solidFill>
            <a:srgbClr val="F3722C"/>
          </a:solidFill>
          <a:ln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10896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Aptos Display"/>
              </a:rPr>
              <a:t>Des mesures brutes vers une note de sante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Une feature = un indicateur calcule a partir des mesures brutes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35024"/>
            <a:ext cx="30175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Au depart, on a surtout vibration, puissance, temperature et humidite.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Le pipeline calcule des indicateurs intermediaires, par exemple une moyenne, une variation ou une duree de montee.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Ces indicateurs servent a reconnaitre un comportement inhabituel.</a:t>
            </a:r>
          </a:p>
          <a:p>
            <a:pPr>
              <a:spcAft>
                <a:spcPts val="5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Le resultat final devient une note de sante HI plus facile a lire.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50208" y="1316736"/>
            <a:ext cx="36118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oof_code_03_ml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2043" y="1316736"/>
            <a:ext cx="2628210" cy="1737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44968" y="1316736"/>
            <a:ext cx="36118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roof_code_04_ml_hybrid_s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3246" y="1316736"/>
            <a:ext cx="2475324" cy="1737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977639" y="3090672"/>
            <a:ext cx="34747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onsolas"/>
              </a:rPr>
              <a:t>prediteq_ml/steps/step2_preprocess.py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090672"/>
            <a:ext cx="34747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onsolas"/>
              </a:rPr>
              <a:t>prediteq_ml/steps/step3_isolation_forest.py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401568"/>
            <a:ext cx="10579608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lot3_anomaly_tim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7758" y="3401568"/>
            <a:ext cx="2518572" cy="2148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PrediTeq | Soutenance jury | simulation -&gt; ML -&gt; runtime -&gt; web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19088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658368"/>
          </a:xfrm>
          <a:prstGeom prst="rect">
            <a:avLst/>
          </a:prstGeom>
          <a:solidFill>
            <a:srgbClr val="F3722C"/>
          </a:solidFill>
          <a:ln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10896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Aptos Display"/>
              </a:rPr>
              <a:t>RUL: estimer le temps restant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RUL = temps restant avant qu'une action devienne necessaire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580644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lot2_rul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146" y="1325880"/>
            <a:ext cx="4752628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12280" y="1335024"/>
            <a:ext cx="37947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Le RUL repond a une question simple: combien de temps reste-t-il avant qu'il faille agir ?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Il est construit a partir du Health Index observe par le systeme.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Le franchissement persistant evite les faux changements dus au bruit.</a:t>
            </a:r>
          </a:p>
          <a:p>
            <a:pPr>
              <a:spcAft>
                <a:spcPts val="5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Le but est d'aider a planifier, pas seulement a declencher une alerte.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3072384"/>
            <a:ext cx="1783080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22592" y="3182112"/>
            <a:ext cx="145389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3722C"/>
                </a:solidFill>
                <a:latin typeface="Aptos Display"/>
              </a:rPr>
              <a:t>2.49 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22592" y="3584448"/>
            <a:ext cx="14538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erreur moy. sur test separe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96528" y="3072384"/>
            <a:ext cx="1783080" cy="9875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3182112"/>
            <a:ext cx="145389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A9D8F"/>
                </a:solidFill>
                <a:latin typeface="Aptos Display"/>
              </a:rPr>
              <a:t>0.982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3584448"/>
            <a:ext cx="14538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Aptos"/>
              </a:rPr>
              <a:t>stabilite par trajectoires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224528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Lead time moyen avant critique: 62.8 jours eq UI.
Vous n'avez pas besoin de retenir les sigles.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4498848"/>
            <a:ext cx="1828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roof_code_05_ml_rul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9201" y="4498848"/>
            <a:ext cx="1274957" cy="132588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759952" y="4498848"/>
            <a:ext cx="1828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roof_code_06_ml_groupkf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9952" y="4748064"/>
            <a:ext cx="1828800" cy="82744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8640" y="6446520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PrediTeq | Soutenance jury | simulation -&gt; ML -&gt; runtime -&gt; web 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19088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658368"/>
          </a:xfrm>
          <a:prstGeom prst="rect">
            <a:avLst/>
          </a:prstGeom>
          <a:solidFill>
            <a:srgbClr val="F3722C"/>
          </a:solidFill>
          <a:ln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10896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Comment nous avons verifie les resultats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tos"/>
              </a:rPr>
              <a:t>Plusieurs controles pour eviter l'effet 'ca marche seulement chez nous'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1335024"/>
            <a:ext cx="2148840" cy="1024128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444752"/>
            <a:ext cx="181965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3722C"/>
                </a:solidFill>
                <a:latin typeface="Aptos Display"/>
              </a:rPr>
              <a:t>0.964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1847088"/>
            <a:ext cx="1819656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qualite detection (F1)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335024"/>
            <a:ext cx="2148840" cy="1024128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64992" y="1444752"/>
            <a:ext cx="181965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A9D8F"/>
                </a:solidFill>
                <a:latin typeface="Aptos Display"/>
              </a:rPr>
              <a:t>0.980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64992" y="1847088"/>
            <a:ext cx="1819656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qualite prediction RUL (R2)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96128" y="1335024"/>
            <a:ext cx="2148840" cy="1024128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1444752"/>
            <a:ext cx="181965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B82F6"/>
                </a:solidFill>
                <a:latin typeface="Aptos Display"/>
              </a:rPr>
              <a:t>2.32 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1847088"/>
            <a:ext cx="1819656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erreur moyenne 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335024"/>
            <a:ext cx="2514600" cy="1024128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56448" y="1444752"/>
            <a:ext cx="218541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AB308"/>
                </a:solidFill>
                <a:latin typeface="Aptos Display"/>
              </a:rPr>
              <a:t>0.886 | 14.1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1847088"/>
            <a:ext cx="2185416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test externe NASA</a:t>
            </a:r>
          </a:p>
        </p:txBody>
      </p:sp>
      <p:pic>
        <p:nvPicPr>
          <p:cNvPr id="17" name="Picture 16" descr="plot6_cmap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744" y="2761488"/>
            <a:ext cx="2163096" cy="2743200"/>
          </a:xfrm>
          <a:prstGeom prst="rect">
            <a:avLst/>
          </a:prstGeom>
        </p:spPr>
      </p:pic>
      <p:pic>
        <p:nvPicPr>
          <p:cNvPr id="18" name="Picture 17" descr="plot7_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036505"/>
            <a:ext cx="4983480" cy="219316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1248" y="5623560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ptos"/>
              </a:rPr>
              <a:t>Pas besoin de retenir tous les sigles: l'idee est que la chaine reste stable sur un test separe, sur des trajectoires entieres et sur un benchmark externe NASA.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Aptos"/>
              </a:rPr>
              <a:t>PrediTeq | Soutenance jury | simulation -&gt; ML -&gt; runtime -&gt; web 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Aptos"/>
              </a:rPr>
              <a:t>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658368"/>
          </a:xfrm>
          <a:prstGeom prst="rect">
            <a:avLst/>
          </a:prstGeom>
          <a:solidFill>
            <a:srgbClr val="F3722C"/>
          </a:solidFill>
          <a:ln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10896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Aptos Display"/>
              </a:rPr>
              <a:t>Du signal a l'application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Que se passe-t-il entre une mesure et l'ecran du technicien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1600200"/>
            <a:ext cx="192024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" y="1600200"/>
            <a:ext cx="82296" cy="1234440"/>
          </a:xfrm>
          <a:prstGeom prst="rect">
            <a:avLst/>
          </a:prstGeom>
          <a:solidFill>
            <a:srgbClr val="F3722C"/>
          </a:solidFill>
          <a:ln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709928"/>
            <a:ext cx="171907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Aptos"/>
              </a:rPr>
              <a:t>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1984248"/>
            <a:ext cx="171907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capteurs, simulateur ou CSV LabVIEW de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2029968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475569"/>
                </a:solidFill>
                <a:latin typeface="Aptos Display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90672" y="1600200"/>
            <a:ext cx="169164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90672" y="1600200"/>
            <a:ext cx="82296" cy="1234440"/>
          </a:xfrm>
          <a:prstGeom prst="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36976" y="1709928"/>
            <a:ext cx="149047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Aptos"/>
              </a:rPr>
              <a:t>Bridge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1984248"/>
            <a:ext cx="149047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remet les champs
au bon format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37176" y="2029968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475569"/>
                </a:solidFill>
                <a:latin typeface="Aptos Display"/>
              </a:rP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38928" y="1600200"/>
            <a:ext cx="192024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38928" y="1600200"/>
            <a:ext cx="82296" cy="1234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85232" y="1709928"/>
            <a:ext cx="171907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Aptos"/>
              </a:rPr>
              <a:t>FastAPI runtime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5232" y="1984248"/>
            <a:ext cx="171907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charge les modeles exportes
et calcule note de sante, zone et temps restant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23176" y="2029968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475569"/>
                </a:solidFill>
                <a:latin typeface="Aptos Display"/>
              </a:rP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24927" y="1600200"/>
            <a:ext cx="173736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24927" y="1600200"/>
            <a:ext cx="82296" cy="1234440"/>
          </a:xfrm>
          <a:prstGeom prst="rect">
            <a:avLst/>
          </a:prstGeom>
          <a:solidFill>
            <a:srgbClr val="F3722C"/>
          </a:solidFill>
          <a:ln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71231" y="1709928"/>
            <a:ext cx="153619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Aptos"/>
              </a:rPr>
              <a:t>Supabase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1231" y="1984248"/>
            <a:ext cx="153619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garde les seuils live
et le contexte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029968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475569"/>
                </a:solidFill>
                <a:latin typeface="Aptos Display"/>
              </a:rP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55480" y="1600200"/>
            <a:ext cx="178308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55480" y="1600200"/>
            <a:ext cx="82296" cy="1234440"/>
          </a:xfrm>
          <a:prstGeom prst="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01784" y="1709928"/>
            <a:ext cx="158191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Aptos"/>
              </a:rPr>
              <a:t>App web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01784" y="1984248"/>
            <a:ext cx="158191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affiche et aide
a decider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" y="3246120"/>
            <a:ext cx="3337560" cy="113385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" y="3246120"/>
            <a:ext cx="91440" cy="113385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3355848"/>
            <a:ext cx="309981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Point cle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" y="3630168"/>
            <a:ext cx="3099816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Le backend n'entraine rien. Il applique les modeles deja exportes depuis prediteq_ml/models.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43400" y="3246120"/>
            <a:ext cx="3337560" cy="113385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43400" y="3246120"/>
            <a:ext cx="91440" cy="1133856"/>
          </a:xfrm>
          <a:prstGeom prst="rect">
            <a:avLst/>
          </a:prstGeom>
          <a:solidFill>
            <a:srgbClr val="F3722C"/>
          </a:solidFill>
          <a:ln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07992" y="3355848"/>
            <a:ext cx="309981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Pourquoi c'est rassurant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07992" y="3630168"/>
            <a:ext cx="3099816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La meme logique peut etre relue dans les fichiers ML offline puis retrouvee dans le runtime.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55279" y="3054096"/>
            <a:ext cx="33832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technologies_arot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3388276"/>
            <a:ext cx="3383280" cy="170907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48640" y="6446520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PrediTeq | Soutenance jury | simulation -&gt; ML -&gt; runtime -&gt; web app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19088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658368"/>
          </a:xfrm>
          <a:prstGeom prst="rect">
            <a:avLst/>
          </a:prstGeom>
          <a:solidFill>
            <a:srgbClr val="F3722C"/>
          </a:solidFill>
          <a:ln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10896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Aptos Display"/>
              </a:rPr>
              <a:t>Ce que voit l'utilisateur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Le produit final transforme les calculs en decisions lisibles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325880"/>
            <a:ext cx="67208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pture_dashboard_predit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98784"/>
            <a:ext cx="6720840" cy="378047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4672" y="1463040"/>
            <a:ext cx="3337560" cy="113385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" y="1463040"/>
            <a:ext cx="91440" cy="1133856"/>
          </a:xfrm>
          <a:prstGeom prst="rect">
            <a:avLst/>
          </a:prstGeom>
          <a:solidFill>
            <a:srgbClr val="F3722C"/>
          </a:solidFill>
          <a:ln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1572768"/>
            <a:ext cx="309981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1847088"/>
            <a:ext cx="3099816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Vue globale de la machine, des alertes et du contexte de fonctionnement.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" y="2743200"/>
            <a:ext cx="3337560" cy="113385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" y="2743200"/>
            <a:ext cx="91440" cy="1133856"/>
          </a:xfrm>
          <a:prstGeom prst="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852928"/>
            <a:ext cx="309981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Diagnostics / RUL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3127248"/>
            <a:ext cx="3099816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Voir la note de sante, la zone courante et le temps restant avant criticite.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" y="4023360"/>
            <a:ext cx="3337560" cy="113385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" y="4023360"/>
            <a:ext cx="91440" cy="1133856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133088"/>
            <a:ext cx="309981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Planner / Maintenance / Costs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4407408"/>
            <a:ext cx="3099816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Prioriser l'action, planifier et comprendre l'impact economique.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596128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En demo, ouvrir: Dashboard -&gt; Diagnostics -&gt; Planner -&gt; Maintenance / Costs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PrediTeq | Soutenance jury | simulation -&gt; ML -&gt; runtime -&gt; web 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658368"/>
          </a:xfrm>
          <a:prstGeom prst="rect">
            <a:avLst/>
          </a:prstGeom>
          <a:solidFill>
            <a:srgbClr val="F3722C"/>
          </a:solidFill>
          <a:ln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10896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Aptos Display"/>
              </a:rPr>
              <a:t>Integration machine reelle / PLC / LabVIEW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ARO-01 suit deja le vrai chemin live; la source finale remplacera surtout le bloc d'acquisition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1417320"/>
            <a:ext cx="192024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2" y="1417320"/>
            <a:ext cx="82296" cy="1115568"/>
          </a:xfrm>
          <a:prstGeom prst="rect">
            <a:avLst/>
          </a:prstGeom>
          <a:solidFill>
            <a:srgbClr val="F3722C"/>
          </a:solidFill>
          <a:ln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27048"/>
            <a:ext cx="171907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Aptos"/>
              </a:rPr>
              <a:t>LabVIEW / PLC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1801368"/>
            <a:ext cx="171907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acquisition des mesures sur la machine reelle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810512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475569"/>
                </a:solidFill>
                <a:latin typeface="Aptos Display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90672" y="1417320"/>
            <a:ext cx="178308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90672" y="1417320"/>
            <a:ext cx="82296" cy="1115568"/>
          </a:xfrm>
          <a:prstGeom prst="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36976" y="1527048"/>
            <a:ext cx="158191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Aptos"/>
              </a:rPr>
              <a:t>PC relais site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1801368"/>
            <a:ext cx="158191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ecrit un JSON ou un CSV, puis envoie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1810512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475569"/>
                </a:solidFill>
                <a:latin typeface="Aptos Display"/>
              </a:rP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30368" y="1417320"/>
            <a:ext cx="164592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30368" y="1417320"/>
            <a:ext cx="82296" cy="1115568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76672" y="1527048"/>
            <a:ext cx="144475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Aptos"/>
              </a:rPr>
              <a:t>MQTT / HTTP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76672" y="1801368"/>
            <a:ext cx="144475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transport vers PrediTeq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4" y="1810512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475569"/>
                </a:solidFill>
                <a:latin typeface="Aptos Display"/>
              </a:rP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42048" y="1417320"/>
            <a:ext cx="201168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42048" y="1417320"/>
            <a:ext cx="82296" cy="1115568"/>
          </a:xfrm>
          <a:prstGeom prst="rect">
            <a:avLst/>
          </a:prstGeom>
          <a:solidFill>
            <a:srgbClr val="F3722C"/>
          </a:solidFill>
          <a:ln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88352" y="1527048"/>
            <a:ext cx="181051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Aptos"/>
              </a:rPr>
              <a:t>FastAPI /ingest/live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8352" y="1801368"/>
            <a:ext cx="181051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verifie la machine et injecte le payload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1810512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475569"/>
                </a:solidFill>
                <a:latin typeface="Aptos Display"/>
              </a:rP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46920" y="1417320"/>
            <a:ext cx="169164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46920" y="1417320"/>
            <a:ext cx="82296" cy="1115568"/>
          </a:xfrm>
          <a:prstGeom prst="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93224" y="1527048"/>
            <a:ext cx="1490472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Aptos"/>
              </a:rPr>
              <a:t>Frontend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93224" y="1801368"/>
            <a:ext cx="149047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affiche HI, zone, alertes et RUL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" y="2880360"/>
            <a:ext cx="3566160" cy="113385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" y="2880360"/>
            <a:ext cx="91440" cy="1133856"/>
          </a:xfrm>
          <a:prstGeom prst="rect">
            <a:avLst/>
          </a:prstGeom>
          <a:solidFill>
            <a:srgbClr val="F3722C"/>
          </a:solidFill>
          <a:ln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264" y="2990088"/>
            <a:ext cx="332841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4 mesures minimales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" y="3264408"/>
            <a:ext cx="3328416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rms_mms, power_kw, temp_c et humidity_rh. current_a, load_kg et status restent utiles mais optionnels.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" y="4279392"/>
            <a:ext cx="3566160" cy="1133856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4672" y="4279392"/>
            <a:ext cx="91440" cy="1133856"/>
          </a:xfrm>
          <a:prstGeom prst="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9264" y="4389120"/>
            <a:ext cx="332841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Ce qui change plus tard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" y="4663440"/>
            <a:ext cx="3328416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Aujourd'hui, la soutenance utilise une source CSV LabVIEW de demo. Demain, la vraie acquisition PLC/LabVIEW remplacera seulement cette source.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45152" y="5870448"/>
            <a:ext cx="6309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ARO-01 n'est pas une 4e machine simulee : meme moteur runtime, sans overrides simulateur.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617720" y="2743200"/>
            <a:ext cx="667512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proof_code_10_live_ingest_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7307" y="2743200"/>
            <a:ext cx="1135946" cy="283464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645152" y="5632704"/>
            <a:ext cx="60350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onsolas"/>
              </a:rPr>
              <a:t>prediteq_api/routers/live_ingest.py + prediteq_api/RELAY_PC_SETUP_SIMPLE.md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46520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PrediTeq | Soutenance jury | simulation -&gt; ML -&gt; runtime -&gt; web app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19088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658368"/>
          </a:xfrm>
          <a:prstGeom prst="rect">
            <a:avLst/>
          </a:prstGeom>
          <a:solidFill>
            <a:srgbClr val="F3722C"/>
          </a:solidFill>
          <a:ln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10896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Demonstration live facile a suivre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tos"/>
              </a:rPr>
              <a:t>ARO-01 est d'abord preparee, puis le flux CSV live continue sur la meme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234440"/>
            <a:ext cx="10607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onsolas"/>
              </a:rPr>
              <a:t>bootstrap ARO-01 -&gt; CSV LabVIEW de demonstration -&gt; mqtt_bridge_sender.py -&gt; FastAPI -&gt; application web</a:t>
            </a:r>
          </a:p>
        </p:txBody>
      </p:sp>
      <p:pic>
        <p:nvPicPr>
          <p:cNvPr id="6" name="Picture 5" descr="validation_pc2_sender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680319"/>
            <a:ext cx="3520440" cy="1515649"/>
          </a:xfrm>
          <a:prstGeom prst="rect">
            <a:avLst/>
          </a:prstGeom>
        </p:spPr>
      </p:pic>
      <p:pic>
        <p:nvPicPr>
          <p:cNvPr id="7" name="Picture 6" descr="validation_pc1_backend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251342"/>
            <a:ext cx="3520440" cy="2373603"/>
          </a:xfrm>
          <a:prstGeom prst="rect">
            <a:avLst/>
          </a:prstGeom>
        </p:spPr>
      </p:pic>
      <p:pic>
        <p:nvPicPr>
          <p:cNvPr id="8" name="Picture 7" descr="validation_pc1_app_aro01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8908" y="1664208"/>
            <a:ext cx="3468589" cy="35478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349240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1. Source de donnees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5349240"/>
            <a:ext cx="3200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2. Calcul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5349240"/>
            <a:ext cx="3200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3. Resultat dans l'app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Aptos"/>
              </a:rPr>
              <a:t>PrediTeq | Soutenance jury | simulation -&gt; ML -&gt; runtime -&gt; web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19088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Aptos"/>
              </a:rPr>
              <a:t>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658368"/>
          </a:xfrm>
          <a:prstGeom prst="rect">
            <a:avLst/>
          </a:prstGeom>
          <a:solidFill>
            <a:srgbClr val="F3722C"/>
          </a:solidFill>
          <a:ln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10896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Aptos Display"/>
              </a:rPr>
              <a:t>Conclusion et prochaines etapes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Ce qui est deja solide, puis ce qui doit encore etre rapproche du terrain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1325880"/>
            <a:ext cx="50749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63640" y="1325880"/>
            <a:ext cx="50749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3722C"/>
                </a:solidFill>
                <a:latin typeface="Aptos Display"/>
              </a:rPr>
              <a:t>Deja en place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874519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Jeu d'entrainement simule relie a la logique machine.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Trois machines demo distinctes pour raconter trois regimes d'usage.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Pipeline ML ordonne et mesure sur plusieurs tests.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Backend runtime + application web + integration live deja structuree.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4808" y="155448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A9D8F"/>
                </a:solidFill>
                <a:latin typeface="Aptos Display"/>
              </a:rPr>
              <a:t>Suite logique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Augmenter le volume de donnees terrain reelles et les annotations.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Remplacer progressivement la source CSV demo par une acquisition industrielle directe.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Affiner encore la calibration et les seuils par contexte machine.</a:t>
            </a:r>
          </a:p>
          <a:p>
            <a:pPr>
              <a:spcAft>
                <a:spcPts val="5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Etendre la generalisation vers d'autres equipements et profils d'usage.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" y="5897880"/>
            <a:ext cx="10533888" cy="411480"/>
          </a:xfrm>
          <a:prstGeom prst="roundRect">
            <a:avLst/>
          </a:prstGeom>
          <a:solidFill>
            <a:srgbClr val="1C2541"/>
          </a:solidFill>
          <a:ln>
            <a:solidFill>
              <a:srgbClr val="1C25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961888"/>
            <a:ext cx="10149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Phrase de fin: PrediTeq relie de facon coherente la physique machine, le Machine Learning, le runtime IoT et la decision dans une application web.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PrediTeq | Soutenance jury | simulation -&gt; ML -&gt; runtime -&gt; web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19088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658368"/>
          </a:xfrm>
          <a:prstGeom prst="rect">
            <a:avLst/>
          </a:prstGeom>
          <a:solidFill>
            <a:srgbClr val="F3722C"/>
          </a:solidFill>
          <a:ln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10896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Aptos Display"/>
              </a:rPr>
              <a:t>Backup - jeu d'entrainement et preuves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step1_simulate.py + config.py: ce que nous presentons vient du vrai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1325880"/>
            <a:ext cx="50749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roof_code_07_training_data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048" y="1325880"/>
            <a:ext cx="2776167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44768" y="1325880"/>
            <a:ext cx="50749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oof_code_01_sim_consta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3471" y="1325880"/>
            <a:ext cx="2257513" cy="20116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44768" y="3767328"/>
            <a:ext cx="50749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oof_code_02_sim_power_cur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9850" y="3767328"/>
            <a:ext cx="2384755" cy="2011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5833872"/>
            <a:ext cx="43891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onsolas"/>
              </a:rPr>
              <a:t>prediteq_ml/steps/step1_simulate.py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3419856"/>
            <a:ext cx="43891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onsolas"/>
              </a:rPr>
              <a:t>prediteq_ml/config.py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5833872"/>
            <a:ext cx="4572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onsolas"/>
              </a:rPr>
              <a:t>prediteq_ml/steps/step1_simulate.py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PrediTeq | Soutenance jury | simulation -&gt; ML -&gt; runtime -&gt; web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19088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658368"/>
          </a:xfrm>
          <a:prstGeom prst="rect">
            <a:avLst/>
          </a:prstGeom>
          <a:solidFill>
            <a:srgbClr val="F3722C"/>
          </a:solidFill>
          <a:ln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10896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Aptos Display"/>
              </a:rPr>
              <a:t>Backup - preuves des 3 machines de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demo_scenarios.py + simulator.py: charges, stress, usure et cibles HI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1325880"/>
            <a:ext cx="104698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roof_code_08_demo_machine_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619" y="1325880"/>
            <a:ext cx="803986" cy="1965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4672" y="3611880"/>
            <a:ext cx="104698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oof_code_09_demo_machine_runtime_log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3024" y="3611880"/>
            <a:ext cx="933175" cy="1965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" y="3346704"/>
            <a:ext cx="49377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onsolas"/>
              </a:rPr>
              <a:t>prediteq_api/demo_scenarios.py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632704"/>
            <a:ext cx="52120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Consolas"/>
              </a:rPr>
              <a:t>prediteq_api/routers/simulator.py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PrediTeq | Soutenance jury | simulation -&gt; ML -&gt; runtime -&gt; web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19088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658368"/>
          </a:xfrm>
          <a:prstGeom prst="rect">
            <a:avLst/>
          </a:prstGeom>
          <a:solidFill>
            <a:srgbClr val="F3722C"/>
          </a:solidFill>
          <a:ln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10896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Aptos Display"/>
              </a:rPr>
              <a:t>Backup - preuves ML actuelles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step2, step3, step4 et step5: les vraies briques de la chaine 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1325880"/>
            <a:ext cx="49377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roof_code_03_ml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375" y="1325880"/>
            <a:ext cx="3112354" cy="2057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325880"/>
            <a:ext cx="49377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oof_code_04_ml_hybrid_s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8307" y="1325880"/>
            <a:ext cx="2931305" cy="20574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4672" y="3611880"/>
            <a:ext cx="49377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oof_code_05_ml_rul_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4361" y="3611880"/>
            <a:ext cx="1978381" cy="20574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355080" y="3611880"/>
            <a:ext cx="49377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roof_code_06_ml_groupkf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0359" y="3611880"/>
            <a:ext cx="4547202" cy="2057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46520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PrediTeq | Soutenance jury | simulation -&gt; ML -&gt; runtime -&gt; web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19088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658368"/>
          </a:xfrm>
          <a:prstGeom prst="rect">
            <a:avLst/>
          </a:prstGeom>
          <a:solidFill>
            <a:srgbClr val="F3722C"/>
          </a:solidFill>
          <a:ln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10896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Backup - integration live et commandes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Aptos"/>
              </a:rPr>
              <a:t>Contrat HTTP/MQTT, puis commandes minimales pour la demo locale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1325880"/>
            <a:ext cx="48920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roof_code_10_live_ingest_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089" y="1325880"/>
            <a:ext cx="1777206" cy="4434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97880" y="1325880"/>
            <a:ext cx="5394960" cy="1572768"/>
          </a:xfrm>
          <a:prstGeom prst="roundRect">
            <a:avLst/>
          </a:prstGeom>
          <a:solidFill>
            <a:srgbClr val="1C2541"/>
          </a:solidFill>
          <a:ln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25896" y="1399032"/>
            <a:ext cx="51389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Backend + 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25896" y="1655064"/>
            <a:ext cx="5138928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nsolas"/>
              </a:rPr>
              <a:t>cd prediteq_api
pip install -r requirements.txt
uvicorn main:app --reload
cd prediteq_frontend
npm install
npm run dev
# http://127.0.0.1:8080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3246120"/>
            <a:ext cx="5394960" cy="2487168"/>
          </a:xfrm>
          <a:prstGeom prst="roundRect">
            <a:avLst/>
          </a:prstGeom>
          <a:solidFill>
            <a:srgbClr val="1C2541"/>
          </a:solidFill>
          <a:ln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25896" y="3319272"/>
            <a:ext cx="51389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Demo LabVIEW / PC relais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25896" y="3575304"/>
            <a:ext cx="5138928" cy="2084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nsolas"/>
              </a:rPr>
              <a:t>cd prediteq_api\npython scripts/generate_labview_demo_csv.py --machine-id ARO-01 --scenario surveillance\npython scripts/setup_real_machine_demo.py --machine-id ARO-01 --name 'Machine reelle' --scenario surveillance\npython scripts/replay_labview_demo_csv.py --input scripts/sample_data/ARO-01_labview_demo_template.csv --output C:\labview\prediteq_log.csv --interval 1.0\npython scripts/mqtt_bridge_sender.py --transport mqtt --mode csv-last-row --machine-id ARO-01 --csv-path C:\labview\prediteq_log.csv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CBD5E1"/>
                </a:solidFill>
                <a:latin typeface="Aptos"/>
              </a:rPr>
              <a:t>PrediTeq | Soutenance jury | simulation -&gt; ML -&gt; runtime -&gt; web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19088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CBD5E1"/>
                </a:solidFill>
                <a:latin typeface="Aptos"/>
              </a:rPr>
              <a:t>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658368"/>
          </a:xfrm>
          <a:prstGeom prst="rect">
            <a:avLst/>
          </a:prstGeom>
          <a:solidFill>
            <a:srgbClr val="F3722C"/>
          </a:solidFill>
          <a:ln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310896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  <a:latin typeface="Aptos Display"/>
              </a:rPr>
              <a:t>Backup - fichiers source de verite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2412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Aptos"/>
              </a:rPr>
              <a:t>Ou montrer le code actuel en moins de 30 secondes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" y="1325880"/>
            <a:ext cx="3429000" cy="1783080"/>
          </a:xfrm>
          <a:prstGeom prst="roundRect">
            <a:avLst/>
          </a:prstGeom>
          <a:solidFill>
            <a:srgbClr val="1C2541"/>
          </a:solidFill>
          <a:ln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399032"/>
            <a:ext cx="31729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Jeu d'entrainement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655064"/>
            <a:ext cx="3172968" cy="1380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nsolas"/>
              </a:rPr>
              <a:t>prediteq_ml/config.py
prediteq_ml/steps/step1_simulate.py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325880"/>
            <a:ext cx="3429000" cy="1783080"/>
          </a:xfrm>
          <a:prstGeom prst="roundRect">
            <a:avLst/>
          </a:prstGeom>
          <a:solidFill>
            <a:srgbClr val="1C2541"/>
          </a:solidFill>
          <a:ln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399032"/>
            <a:ext cx="31729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3 machines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655064"/>
            <a:ext cx="3172968" cy="1380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nsolas"/>
              </a:rPr>
              <a:t>prediteq_api/demo_scenarios.py
prediteq_api/routers/simulator.py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325880"/>
            <a:ext cx="3355848" cy="1783080"/>
          </a:xfrm>
          <a:prstGeom prst="roundRect">
            <a:avLst/>
          </a:prstGeom>
          <a:solidFill>
            <a:srgbClr val="1C2541"/>
          </a:solidFill>
          <a:ln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399032"/>
            <a:ext cx="3099816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ML / resultats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1655064"/>
            <a:ext cx="3099816" cy="1380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nsolas"/>
              </a:rPr>
              <a:t>prediteq_ml/steps/step2_preprocess.py
prediteq_ml/steps/step3_isolation_forest.py
prediteq_ml/steps/step4_health_index.py
prediteq_ml/steps/step5_rul_model.py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3657600"/>
            <a:ext cx="3840480" cy="1783080"/>
          </a:xfrm>
          <a:prstGeom prst="roundRect">
            <a:avLst/>
          </a:prstGeom>
          <a:solidFill>
            <a:srgbClr val="1C2541"/>
          </a:solidFill>
          <a:ln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9576" y="3730752"/>
            <a:ext cx="358444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Runtime 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9576" y="3986784"/>
            <a:ext cx="3584448" cy="1380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nsolas"/>
              </a:rPr>
              <a:t>prediteq_api/ml/engine_manager.py
prediteq_api/routers/diagnostics_rul.py
prediteq_api/routers/live_ingest.py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657600"/>
            <a:ext cx="3840480" cy="1783080"/>
          </a:xfrm>
          <a:prstGeom prst="roundRect">
            <a:avLst/>
          </a:prstGeom>
          <a:solidFill>
            <a:srgbClr val="1C2541"/>
          </a:solidFill>
          <a:ln>
            <a:solidFill>
              <a:srgbClr val="F372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8816" y="3730752"/>
            <a:ext cx="358444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Flux live / PC relais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3986784"/>
            <a:ext cx="3584448" cy="1380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Consolas"/>
              </a:rPr>
              <a:t>prediteq_api/scripts/setup_real_machine_demo.py
prediteq_api/scripts/generate_labview_demo_csv.py
prediteq_api/scripts/mqtt_bridge_sender.py
prediteq_api/LABVIEW_CSV_BRIDGE_DEMO.md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Aptos"/>
              </a:rPr>
              <a:t>PrediTeq | Soutenance jury | simulation -&gt; ML -&gt; runtime -&gt; web 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20/20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PrediTeq - Soutenance jury</dc:title>
  <dc:subject>Presentation PrediTeq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